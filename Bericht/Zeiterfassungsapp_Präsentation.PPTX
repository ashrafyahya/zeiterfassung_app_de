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76" r:id="rId4"/>
    <p:sldId id="257" r:id="rId5"/>
    <p:sldId id="258" r:id="rId6"/>
    <p:sldId id="261" r:id="rId7"/>
    <p:sldId id="259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38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DF8938-ACE4-4CDA-9A9D-439996EACA24}" type="datetimeFigureOut">
              <a:rPr lang="de-DE" smtClean="0"/>
              <a:t>03.10.2024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AA1DF-6FEA-456B-9E88-C1C406BA8D7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86555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A724C-1B90-CAD1-E102-FBA4810288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2F58F10-999E-5155-3BCA-F4D529A993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28325B-DFF6-6C3B-D6B1-E2E05A3DC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79C68-F908-4CCB-84FC-2D1E031392E1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AB3BCB-6EE0-7356-48D1-A4C15E8C5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6E857B-213C-B70D-7225-3CE60DAA3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7009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FF2F6F-779E-5F7A-9D48-6BBD58BFA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0D2DFC-406C-A212-9475-512006A74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C4AC65-937B-3230-29C9-86CFF3B10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BB81AD-0112-48C9-8680-D5F750BD60D3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9CE2BE-A030-0D78-8124-620034C5B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29ED4-AF1B-7A54-8374-AEB3873F9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9949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029C24-F923-D2D5-1503-6D2A2FCCB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DBFA01C-0C93-E0AE-8FA9-F38860B98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E72E76-0341-37DF-FC1E-BCD5D284C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859733-5D98-4690-B88F-123EA7E34CC7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239190-97D4-C22A-F005-2C194CD59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8578AE-4ABC-E988-7C44-F446A7564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38508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40A28B-3F93-AC88-E5DB-621490911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68A482-0AEB-A7DF-9BC3-3B48F8E7E4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9179A4D-417A-D248-D3F6-2ADCC35365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A392402-5884-7079-D0AD-20CF4A0B4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4A3414-C602-4E81-A74F-8004D2FEEC73}" type="datetime1">
              <a:rPr lang="de-DE" smtClean="0"/>
              <a:t>03.10.2024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90DDAF2-2423-6810-2143-A8058B3D9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7FDFEA6-C64F-E890-0009-2161EC592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89045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1702A2-FC27-EACD-D686-66321ADA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636EF6A-984E-AFBD-1FFF-153364995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08BC474-F536-CDF6-13B3-95F65D8326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C580841-9D67-88C3-30A7-EE89107AE1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6DE9A0B-D90D-86AA-21BD-FA0A8AC60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62B35C3-299D-A246-5243-2EB7E2588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0456F-0C98-4AE3-8EC6-74CA653DC1FE}" type="datetime1">
              <a:rPr lang="de-DE" smtClean="0"/>
              <a:t>03.10.2024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8FBF18D-2CAE-A5F9-7C62-C338EB413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BE07980-34E0-5123-58DB-D8AB5CE25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4109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04E7F2-8B43-5573-E9AF-35F0AE19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CDFB5E-E99A-C27D-C060-A3F5EE516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9111B-BF0C-43A9-95BE-1C1F24AB7EB3}" type="datetime1">
              <a:rPr lang="de-DE" smtClean="0"/>
              <a:t>03.10.2024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89C3EC6-ED5C-8BF4-8CA0-FA4E68A8B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C2478A1-4235-4E44-AF35-EEC1E884B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8070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D6DCEFA-1ADA-2B9D-0B4E-8C5F7298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20533F-C47B-4866-A00F-461FE8321954}" type="datetime1">
              <a:rPr lang="de-DE" smtClean="0"/>
              <a:t>03.10.2024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31E0EE3-BEEB-7F25-97BE-2E0217AE2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AA1052-C1FA-D774-0EA1-4B0FBCC05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325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5E9D4F-902F-024B-4904-3666BBBF3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9EB701-6C66-14A0-AB7B-A9759C42A4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6137FE7-2749-0A05-EBCF-92C03F364D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550FA87-E96D-29DF-F426-E8BBB7685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84341-24D7-445D-BEAB-8BBF673C6E03}" type="datetime1">
              <a:rPr lang="de-DE" smtClean="0"/>
              <a:t>03.10.2024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4E7A566-29AA-C044-758C-8DF238720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BAC639-65D7-B00E-E2B3-E929EE1E2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083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E5A1F-580C-B196-E8FE-02E2F82AF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247F310-A0B8-DCD5-8089-AC59F46BF4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9AAB6B8-2505-DBBE-B079-F72E80AA68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24A5D4C-F18F-159D-C0FB-9978D6A67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BBA3B3-1DA6-42B8-87AA-BF6A6F3562DC}" type="datetime1">
              <a:rPr lang="de-DE" smtClean="0"/>
              <a:t>03.10.2024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AA5EF2-58ED-B5CA-4B11-81CEFE37F6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DFAE957-3CEB-574D-ABB5-582B457DC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43039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ED7562-10E8-EF66-8646-ED4190D52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A1C71F9-3630-341E-FB2E-658EC9A37C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3C03F6-A97C-E1A6-074E-28251A3A7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CC81AC-4F07-4B64-9F3E-B5211D47D0C5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FD1616-100E-5FA6-3261-35215FD6A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9F60B8-201A-6AC9-2BAD-2A97DF7B6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40021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7A3AFE-7683-04E3-6ED6-4FCB0D0EA3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F1B1A97-219D-B8B9-BDAE-345FEE9F2B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09A0CB-6C52-E5F3-24DF-229CD785F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5EB51-44AD-4C1C-A63B-20E0A8767ABD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6B6683-EC76-55D6-D58C-39AB24183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646C95-5BAF-BC6D-1A4A-F48D39105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9481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B2F3474-EAC1-374C-2737-CDFD03A96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F4F1FF-6D17-8B29-A6E4-FD06EB0268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F27F54-6704-08A9-9D72-FFAC00FE5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546763-E5EF-4D21-8E5C-89D5DF73CC79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06A842-9748-102F-9A74-BC01DA4550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EDDE3E-6354-7FE0-6485-5C6130E8A9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17BA4-C4AE-4714-8927-468768EC554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5126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0C0B49-2992-7306-0E49-B514237A5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182298"/>
          </a:xfrm>
        </p:spPr>
        <p:txBody>
          <a:bodyPr anchor="t"/>
          <a:lstStyle/>
          <a:p>
            <a:r>
              <a:rPr lang="de-DE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Zeiterfassung-App</a:t>
            </a:r>
            <a:endParaRPr lang="de-DE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4F39E71-DD53-228E-3649-B3746CD4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60866"/>
            <a:ext cx="9144000" cy="1042390"/>
          </a:xfrm>
        </p:spPr>
        <p:txBody>
          <a:bodyPr/>
          <a:lstStyle/>
          <a:p>
            <a:r>
              <a:rPr lang="de-DE" dirty="0"/>
              <a:t>Entwickelt von: </a:t>
            </a:r>
            <a:r>
              <a:rPr lang="de-DE" b="1" i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Ashraf Yahya</a:t>
            </a:r>
          </a:p>
          <a:p>
            <a:r>
              <a:rPr lang="de-DE" dirty="0"/>
              <a:t>Betreuer: </a:t>
            </a:r>
            <a:r>
              <a:rPr lang="de-DE" b="1" i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Prof. Dr. Markus Kampmann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908A9B3-F035-626E-7687-D4D402F69582}"/>
              </a:ext>
            </a:extLst>
          </p:cNvPr>
          <p:cNvSpPr txBox="1"/>
          <p:nvPr/>
        </p:nvSpPr>
        <p:spPr>
          <a:xfrm>
            <a:off x="1524000" y="6135063"/>
            <a:ext cx="27529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Hochschule Koblenz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48AEBAA-1602-3F34-82AE-9C873731F3E3}"/>
              </a:ext>
            </a:extLst>
          </p:cNvPr>
          <p:cNvSpPr txBox="1"/>
          <p:nvPr/>
        </p:nvSpPr>
        <p:spPr>
          <a:xfrm>
            <a:off x="8870182" y="6135063"/>
            <a:ext cx="1921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03. Okt. 2024</a:t>
            </a:r>
          </a:p>
        </p:txBody>
      </p:sp>
      <p:pic>
        <p:nvPicPr>
          <p:cNvPr id="7" name="Grafik 6" descr="Ein Bild, das Muster, Quadrat, Symmetrie, Rechteck enthält.&#10;&#10;Automatisch generierte Beschreibung">
            <a:extLst>
              <a:ext uri="{FF2B5EF4-FFF2-40B4-BE49-F238E27FC236}">
                <a16:creationId xmlns:a16="http://schemas.microsoft.com/office/drawing/2014/main" id="{5037BAA0-03BC-CE4B-0028-85E41992D4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5887" y="2528887"/>
            <a:ext cx="1800225" cy="1800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84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84BD4A4-5D0A-D9AE-3BED-8509D1A23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e-DE" sz="5400"/>
              <a:t>Warnung!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AE09338-D653-470A-58D5-771963D0BC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de-DE" sz="2200" dirty="0" err="1"/>
              <a:t>Debug</a:t>
            </a:r>
            <a:r>
              <a:rPr lang="de-DE" sz="2200" dirty="0"/>
              <a:t>-Version</a:t>
            </a:r>
          </a:p>
          <a:p>
            <a:r>
              <a:rPr lang="de-DE" sz="2200" dirty="0"/>
              <a:t>Durch WhatsApp</a:t>
            </a:r>
          </a:p>
          <a:p>
            <a:pPr marL="0" indent="0">
              <a:buNone/>
            </a:pPr>
            <a:endParaRPr lang="de-DE" sz="2200" dirty="0"/>
          </a:p>
        </p:txBody>
      </p:sp>
      <p:pic>
        <p:nvPicPr>
          <p:cNvPr id="5" name="Grafik 4" descr="Ein Bild, das Text, Screenshot, Schrift enthält.&#10;&#10;Automatisch generierte Beschreibung">
            <a:extLst>
              <a:ext uri="{FF2B5EF4-FFF2-40B4-BE49-F238E27FC236}">
                <a16:creationId xmlns:a16="http://schemas.microsoft.com/office/drawing/2014/main" id="{CFDAE550-1680-D308-89EC-51CA7BBFAA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4296" y="1306106"/>
            <a:ext cx="6903720" cy="424578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16ACAA40-846D-C417-B505-13D6FF3C0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4E62E-3AC0-4B48-AB3C-58C9A3632169}" type="datetime1">
              <a:rPr lang="de-DE" smtClean="0"/>
              <a:t>03.10.2024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2DCB2C1-5D4D-DF91-E563-14E6573B8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3591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F9ED7C-47D9-2BA2-22E6-D3AB6A8BD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de-DE" sz="4600"/>
              <a:t>Berechtigung!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3EA028-952D-401F-0612-C453158C4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r>
              <a:rPr lang="de-DE" sz="2200"/>
              <a:t>Berechtigung zulassen</a:t>
            </a:r>
          </a:p>
          <a:p>
            <a:endParaRPr lang="de-DE" sz="2200"/>
          </a:p>
        </p:txBody>
      </p:sp>
      <p:pic>
        <p:nvPicPr>
          <p:cNvPr id="5" name="Grafik 4" descr="Ein Bild, das Text, Screenshot enthält.&#10;&#10;Automatisch generierte Beschreibung">
            <a:extLst>
              <a:ext uri="{FF2B5EF4-FFF2-40B4-BE49-F238E27FC236}">
                <a16:creationId xmlns:a16="http://schemas.microsoft.com/office/drawing/2014/main" id="{78D46E19-D765-DA1D-B2C2-9CED9771D8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9327" y="640080"/>
            <a:ext cx="4113657" cy="5577840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6" name="Datumsplatzhalter 5">
            <a:extLst>
              <a:ext uri="{FF2B5EF4-FFF2-40B4-BE49-F238E27FC236}">
                <a16:creationId xmlns:a16="http://schemas.microsoft.com/office/drawing/2014/main" id="{21AF510D-9688-6BC2-ABB7-799F84E96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94E3C-AC36-4974-BD91-6800FEAF6B18}" type="datetime1">
              <a:rPr lang="de-DE" smtClean="0"/>
              <a:t>03.10.2024</a:t>
            </a:fld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2398E7C-E63B-69F1-4AB6-0784F1EB4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6635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5D17A57-158B-6C57-F5F4-4A43ABD3C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de-DE" sz="5000" b="1" dirty="0"/>
              <a:t>Hintergrund und Ziel</a:t>
            </a:r>
            <a:endParaRPr lang="de-DE" sz="5000" dirty="0"/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15E82FD-B383-F17D-7602-FBAB9EA1D9E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126418" y="552091"/>
            <a:ext cx="6224335" cy="543153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Die Zeiterfassungs-App wurde entwickelt, um eine einfache und effiziente Lösung zur Erfassung und Verwaltung von Arbeitszeiten zu bieten.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lang="de-DE" altLang="de-DE" sz="2200" dirty="0"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de-DE" altLang="de-DE" sz="2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22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Sie richtet sich sowohl an Nutzer, die ihre Arbeitszeiten erfassen wollen, als auch an Administratoren, die diese Daten überwachen und verwalten.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1DAECCF-5ABB-E79B-5D9B-BE941290E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EDF8B-DB7B-4761-BD98-F232D1FBB4A3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79BAAB4-4200-CE01-EA9F-7D17D6D1F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86078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BD95F81-D492-1420-61CB-DF2B24167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Bedeutung der Zeiterfassung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B5E69C-98A5-9FEA-8779-C14DE784B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de-DE" sz="2200" b="1"/>
              <a:t>Warum ist Zeiterfassung wichtig?</a:t>
            </a:r>
            <a:endParaRPr lang="de-DE" sz="2200"/>
          </a:p>
          <a:p>
            <a:pPr>
              <a:buFont typeface="Arial" panose="020B0604020202020204" pitchFamily="34" charset="0"/>
              <a:buChar char="•"/>
            </a:pPr>
            <a:r>
              <a:rPr lang="de-DE" sz="2200"/>
              <a:t>Zeiterfassung ist entscheidend für die Überwachung der Arbeitszeiten, das Management von Projekten und die Einhaltung gesetzlicher Vorgaben.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2200"/>
          </a:p>
          <a:p>
            <a:pPr>
              <a:buFont typeface="Arial" panose="020B0604020202020204" pitchFamily="34" charset="0"/>
              <a:buChar char="•"/>
            </a:pPr>
            <a:r>
              <a:rPr lang="de-DE" sz="2200"/>
              <a:t>Unternehmen können so Überstunden berechnen, die Produktivität steigern und gesetzliche Anforderungen einhalten.</a:t>
            </a:r>
          </a:p>
          <a:p>
            <a:endParaRPr lang="de-DE" sz="220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8CF976-8979-DEE4-101B-254687BE0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F46D2-A77E-49BE-BF54-C19DF14B545B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316F03-BE2B-EF8D-9083-00A1615E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295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5682B66-4437-215C-E789-A5F72D308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Verwendete Technologien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98CDA5-ACE8-2E08-F548-3D7A41C90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Android Studio</a:t>
            </a:r>
            <a:r>
              <a:rPr lang="de-DE" sz="2200" dirty="0"/>
              <a:t>: Hauptentwicklungsumgebung zur Erstellung der App.</a:t>
            </a:r>
          </a:p>
          <a:p>
            <a:pPr marL="0" indent="0">
              <a:buNone/>
            </a:pP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Java</a:t>
            </a:r>
            <a:r>
              <a:rPr lang="de-DE" sz="2200" dirty="0"/>
              <a:t>: Programmiersprache für die Entwicklung der App-Logik.</a:t>
            </a:r>
          </a:p>
          <a:p>
            <a:pPr marL="0" indent="0">
              <a:buNone/>
            </a:pP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 err="1"/>
              <a:t>Firebase</a:t>
            </a:r>
            <a:r>
              <a:rPr lang="de-DE" sz="2200" dirty="0"/>
              <a:t>: Backend-Dienst für Authentifizierung, Datenhaltung und Echtzeit-Synchronisation.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854BF-7290-DCB2-03AD-565007C8F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55DB8-44E5-42F7-9071-5173E1811385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3DEE71F-9469-06E9-40AD-C3B522AE0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4356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F97B1C-64E3-EFD8-63D3-1189104EF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Entwicklungsumgebung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328359-7565-F19D-F1F5-51628FEDA6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Android Studio: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Installation und Einrichtung sind über die offizielle Android Studio-Website möglich.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Wichtige Funktionen: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Code-Editor mit Syntax-Hervorhebung und </a:t>
            </a:r>
            <a:r>
              <a:rPr lang="de-DE" sz="2200" dirty="0" err="1"/>
              <a:t>Refactoring</a:t>
            </a:r>
            <a:r>
              <a:rPr lang="de-DE" sz="22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Layout-Editor für die Gestaltung der UI.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Debugging-Tools und Emulatoren.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F45F5C-9508-FBD8-DA74-153F583E3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FDCA7-3534-4395-BE87-636F0186EB0B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A97F11F-5C63-B629-745D-0977030B9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6558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77473A2-654D-47BB-6B87-D29EB911F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Architektur und Design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5AC28-93E1-D1F1-EE05-EA80A50D5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Anwendungsarchitektur: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Client-Server-Modell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Client: Die mobile App auf Android.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Server: </a:t>
            </a:r>
            <a:r>
              <a:rPr lang="de-DE" sz="2200" dirty="0" err="1"/>
              <a:t>Firebase</a:t>
            </a:r>
            <a:r>
              <a:rPr lang="de-DE" sz="2200" dirty="0"/>
              <a:t> als Backend für Authentifizierung, Datenverwaltung und Verarbeitung.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Datenfluss: Nutzer interagieren über die App mit </a:t>
            </a:r>
            <a:r>
              <a:rPr lang="de-DE" sz="2200" dirty="0" err="1"/>
              <a:t>Firebase</a:t>
            </a:r>
            <a:r>
              <a:rPr lang="de-DE" sz="2200" dirty="0"/>
              <a:t>, um Zeiteinträge zu speichern und abzurufen.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20DB83-5FBA-AFA1-AE6A-4BAF4EF5A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61F510-1B77-4ACE-8342-960EC276B66D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7039DE-0736-144E-9579-3EC82AF8D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1493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70B52D-4EF9-7BA3-98F7-754696F39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Benutzeroberfläche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14D51F-D6DA-D623-8070-3BBEB4F70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UI-Design und Layout: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Klarheit und Einfachheit</a:t>
            </a:r>
            <a:r>
              <a:rPr lang="de-DE" sz="2200" dirty="0"/>
              <a:t>: Intuitive und leicht zu bedienende Benutzeroberfläche.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Responsive Design</a:t>
            </a:r>
            <a:r>
              <a:rPr lang="de-DE" sz="2200" dirty="0"/>
              <a:t>: Optimierung für verschiedene Bildschirmgrößen (Hochformat unterstützt, Querformat nicht vollständig).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Screenshots</a:t>
            </a:r>
            <a:r>
              <a:rPr lang="de-DE" sz="2200" dirty="0"/>
              <a:t>: Hauptbildschirm, Login, Admin-Oberfläche.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4EF1A7-E473-CE21-7A4C-0A0DFD27A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C23E75-E07F-410F-BB29-0356D192DB3E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0D4AA4-A8C4-E78E-17EC-300CD71C5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462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E194F3D-5463-E21F-1C78-AF6CAD9F6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r>
              <a:rPr lang="de-DE" sz="5400">
                <a:solidFill>
                  <a:srgbClr val="FFFFFF"/>
                </a:solidFill>
              </a:rPr>
              <a:t>Backend-Design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67FF70-05BC-2634-9E5B-F15C26AA56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6789"/>
            <a:ext cx="10515600" cy="3590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 err="1"/>
              <a:t>Firebase</a:t>
            </a:r>
            <a:r>
              <a:rPr lang="de-DE" sz="2200" b="1" dirty="0"/>
              <a:t> als Backend: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Datenstruktur in </a:t>
            </a:r>
            <a:r>
              <a:rPr lang="de-DE" sz="2200" b="1" dirty="0" err="1"/>
              <a:t>Firestore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Benutzerinformationen in der „</a:t>
            </a:r>
            <a:r>
              <a:rPr lang="de-DE" sz="2200" dirty="0" err="1"/>
              <a:t>users</a:t>
            </a:r>
            <a:r>
              <a:rPr lang="de-DE" sz="2200" dirty="0"/>
              <a:t>“-Sammlung.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Zeiteinträge in der „</a:t>
            </a:r>
            <a:r>
              <a:rPr lang="de-DE" sz="2200" dirty="0" err="1"/>
              <a:t>timeEntries</a:t>
            </a:r>
            <a:r>
              <a:rPr lang="de-DE" sz="2200" dirty="0"/>
              <a:t>“-Sammlung.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Sicherheitsregeln</a:t>
            </a:r>
            <a:r>
              <a:rPr lang="de-DE" sz="2200" dirty="0"/>
              <a:t>: Zugriffskontrollen basierend auf Rollen und Authentifizierung.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217E77-B42D-4EA5-156E-51BF924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01E13B-C69F-4D18-BA5A-3C6BBA0C62F3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3CD3BBF-9B79-6A6F-6637-61663485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69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63654F2-C0E2-191D-C202-C4810DA96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Wichtige Funktionen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AC90330-D115-7DAF-0B29-D2D553B8C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Benutzeranmeldung und Zeiterfassung: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Benutzeranmeldung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Nutzer registrieren sich mit E-Mail und Passwort, die in </a:t>
            </a:r>
            <a:r>
              <a:rPr lang="de-DE" sz="2200" dirty="0" err="1"/>
              <a:t>Firebase</a:t>
            </a:r>
            <a:r>
              <a:rPr lang="de-DE" sz="2200" dirty="0"/>
              <a:t> gespeichert werden.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Zeiterfassung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Check-In und Check-Out werden protokolliert.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Echtzeit-Updates in der Datenbank.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265786-2F6D-52BB-A768-C8C1B71CC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896AC-0742-451D-8646-C36C98AB6C7A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EF559F-CB25-C10C-CAB9-40D7CE0830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8986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A247CA7-D741-C752-484E-2DD97C794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Admin-Funktionen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0FDA76D-6171-7780-1B5D-9EDCA73F05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Verwaltung und Rollen: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Zugriffskontrolle</a:t>
            </a:r>
            <a:r>
              <a:rPr lang="de-DE" sz="2200" dirty="0"/>
              <a:t>: Administratoren können Benutzerrollen und Zeiteinträge verwalten.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Verwaltung von Benutzerdaten</a:t>
            </a:r>
            <a:r>
              <a:rPr lang="de-DE" sz="2200" dirty="0"/>
              <a:t>: Administratoren können alle Benutzerdaten einsehen und bearbeiten.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6F1BE66-B607-5431-6720-99BA01926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C01976-188A-4A3E-8E6D-3370AAE73C60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5857793-E4B5-1544-7576-0C335EA95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26786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405ED48-A496-1C2B-D6F4-5174E2571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Implementierung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E6713C-81F9-76A8-8FE8-04D2806282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Code-Beispiele und Layout: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MainActivity.java</a:t>
            </a:r>
            <a:r>
              <a:rPr lang="de-DE" sz="2200" dirty="0"/>
              <a:t>: Hauptaktivität für Zeiterfassung und Anzeige von Zeiteinträgen.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AdminActivity.java</a:t>
            </a:r>
            <a:r>
              <a:rPr lang="de-DE" sz="2200" dirty="0"/>
              <a:t>: Verwaltung der Benutzerrollen und Zeitübersicht.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 err="1"/>
              <a:t>Firebase</a:t>
            </a:r>
            <a:r>
              <a:rPr lang="de-DE" sz="2200" b="1" dirty="0"/>
              <a:t>-Konfiguration</a:t>
            </a:r>
            <a:r>
              <a:rPr lang="de-DE" sz="2200" dirty="0"/>
              <a:t>: Authentifizierung und Datenhaltung in </a:t>
            </a:r>
            <a:r>
              <a:rPr lang="de-DE" sz="2200" dirty="0" err="1"/>
              <a:t>Firestore</a:t>
            </a:r>
            <a:r>
              <a:rPr lang="de-DE" sz="2200" dirty="0"/>
              <a:t>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B43DBF-4AB7-D9DC-B54E-75022EC9B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37EB9-5833-4C07-8936-5B654F55590D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23E54D-5038-05B5-7390-2B806675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672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8B3AFB-ED1C-1331-F317-E1714A378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Firebase-Konfiguration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DC23BA-194D-CB2B-1181-67FA4531C7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Integration von </a:t>
            </a:r>
            <a:r>
              <a:rPr lang="de-DE" sz="2200" b="1" dirty="0" err="1"/>
              <a:t>Firebase</a:t>
            </a:r>
            <a:r>
              <a:rPr lang="de-DE" sz="2200" b="1" dirty="0"/>
              <a:t>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 err="1"/>
              <a:t>Firebase</a:t>
            </a:r>
            <a:r>
              <a:rPr lang="de-DE" sz="2200" b="1" dirty="0"/>
              <a:t> Authentication</a:t>
            </a:r>
            <a:r>
              <a:rPr lang="de-DE" sz="2200" dirty="0"/>
              <a:t>: Ermöglicht sichere Anmeldung und Registrierung.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Cloud </a:t>
            </a:r>
            <a:r>
              <a:rPr lang="de-DE" sz="2200" b="1" dirty="0" err="1"/>
              <a:t>Firestore</a:t>
            </a:r>
            <a:r>
              <a:rPr lang="de-DE" sz="2200" dirty="0"/>
              <a:t>: Speichert Benutzerdaten und Zeiteinträge.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Benachrichtigungen</a:t>
            </a:r>
            <a:r>
              <a:rPr lang="de-DE" sz="2200" dirty="0"/>
              <a:t>: Zwei Arten von Benachrichtigungen: Push- und In-App-Messaging.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14EE93-70DF-2481-9C74-F6413970A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64B6B-EE24-44DF-B474-86CE542231E6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07868C6-0F97-5113-A21C-5768763FD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37910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0BF7F2E-129F-D3F1-AB84-F18C2F8F0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r>
              <a:rPr lang="de-DE" sz="5400">
                <a:solidFill>
                  <a:srgbClr val="FFFFFF"/>
                </a:solidFill>
              </a:rPr>
              <a:t>Teststrategien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BEF849-BD9F-EE54-E04A-6E993A2A72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6789"/>
            <a:ext cx="10515600" cy="3590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Testmethoden: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Integrationstests</a:t>
            </a:r>
            <a:r>
              <a:rPr lang="de-DE" sz="2200" dirty="0"/>
              <a:t>: Sicherstellung, dass alle Komponenten korrekt zusammenarbeiten.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Benutzerakzeptanztests</a:t>
            </a:r>
            <a:r>
              <a:rPr lang="de-DE" sz="2200" dirty="0"/>
              <a:t>: Überprüfung der Benutzerfreundlichkeit durch Testnutzungen und Anpassungen basierend auf Feedback.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44828A-890C-E322-F511-873414963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B20BA1-5849-43A5-A52D-4A2FB93DC8A3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91CE18-9A35-212C-4510-923BE47C5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1413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FC45F59-86B3-7CFA-619C-08506224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r>
              <a:rPr lang="de-DE" sz="5400">
                <a:solidFill>
                  <a:srgbClr val="FFFFFF"/>
                </a:solidFill>
              </a:rPr>
              <a:t>Sicherheit und Datenschutz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814047-8D51-D01E-1546-1AB51F7E8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6789"/>
            <a:ext cx="10515600" cy="3590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Sicherheitsüberlegungen: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Verschlüsselung</a:t>
            </a:r>
            <a:r>
              <a:rPr lang="de-DE" sz="2200" dirty="0"/>
              <a:t>: Passwörter und sensible Daten werden verschlüsselt gespeichert.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Zugriffskontrollen</a:t>
            </a:r>
            <a:r>
              <a:rPr lang="de-DE" sz="2200" dirty="0"/>
              <a:t>: Nur autorisierte Benutzer haben Zugriff auf bestimmte Funktionen und Daten.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413A6-E60F-0EAE-B61D-5C2131C49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AC0572-F4FD-439D-AEFD-3CC0FC33A01F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166619-76E8-49C6-CE90-D8E8E8D0C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64249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278AD11-A2C6-8B55-3DBA-10757B9F6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400"/>
              <a:t>Wartung und Erweiterungen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78E8D4-A46B-FE01-9445-8B6961B00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Zukünftige Erweiterungen: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b="1" dirty="0"/>
              <a:t>Geplante Funktionen</a:t>
            </a:r>
            <a:r>
              <a:rPr lang="de-DE" sz="2200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Berichterstellung für Nutzer und Admins.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Überstundenberechnung und Anzeige.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Speicherung von Anmeldedaten zur Erleichterung der Nutzung.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sz="2200" dirty="0"/>
              <a:t>Verbesserung der Responsivität und Unterstützung für Querformat.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4187980-771F-BB09-8D8C-FEC4BCA001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7A08E-7827-4AA8-B763-F766EE734698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A3609E1-83BE-8221-0794-94D2CB93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15771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CD88662-050F-6349-CA40-C63F15A90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r>
              <a:rPr lang="de-DE" sz="5400">
                <a:solidFill>
                  <a:srgbClr val="FFFFFF"/>
                </a:solidFill>
              </a:rPr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B3A29F-A7CD-3375-CAB3-DEC3B28DA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6789"/>
            <a:ext cx="10515600" cy="35901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Zusammenfassung: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Die Zeiterfassungs-App bietet eine benutzerfreundliche Lösung zur Erfassung und Verwaltung von Arbeitszeiten.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Mit Android Studio, Java und </a:t>
            </a:r>
            <a:r>
              <a:rPr lang="de-DE" sz="2200" dirty="0" err="1"/>
              <a:t>Firebase</a:t>
            </a:r>
            <a:r>
              <a:rPr lang="de-DE" sz="2200" dirty="0"/>
              <a:t> wurde eine stabile und funktionale App erstellt.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E8031-2C4E-9D30-EBDE-8692DB728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BDF4E-0355-46CB-807E-AFA15A1496E0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E9177D-F412-E8D2-2774-759A9856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91809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F167E8A-DC5E-9135-EFB3-28A47D3B2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sz="5000"/>
              <a:t>Schlussfolgerungen und Empfehlungen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103552-A319-3299-1272-1AB2B23D1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200" b="1" dirty="0"/>
              <a:t>Reflektion und Ausblick:</a:t>
            </a:r>
            <a:endParaRPr lang="de-DE" sz="2200" dirty="0"/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Der Entwicklungsprozess ermöglichte tiefere Einblicke in die Android-Entwicklung.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e-DE" sz="2200" dirty="0"/>
              <a:t>Zukünftige Erweiterungen könnten die Benutzerfreundlichkeit und Funktionalität der App weiter verbessern.</a:t>
            </a:r>
          </a:p>
          <a:p>
            <a:endParaRPr lang="de-DE" sz="22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8EA588-81DA-EBBA-FE88-5C19048B2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07F03-86A4-4D74-A3F7-02117161C1C6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A22669-710D-846B-A6DC-04CCF8049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2672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C17DE74-01C9-4859-B65A-85CF999E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68C0432-0E90-4CC1-8CD3-D44A90DF0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2347414"/>
          </a:xfrm>
          <a:custGeom>
            <a:avLst/>
            <a:gdLst>
              <a:gd name="connsiteX0" fmla="*/ 0 w 12192000"/>
              <a:gd name="connsiteY0" fmla="*/ 0 h 2347414"/>
              <a:gd name="connsiteX1" fmla="*/ 12192000 w 12192000"/>
              <a:gd name="connsiteY1" fmla="*/ 0 h 2347414"/>
              <a:gd name="connsiteX2" fmla="*/ 12192000 w 12192000"/>
              <a:gd name="connsiteY2" fmla="*/ 1736458 h 2347414"/>
              <a:gd name="connsiteX3" fmla="*/ 11967601 w 12192000"/>
              <a:gd name="connsiteY3" fmla="*/ 1784034 h 2347414"/>
              <a:gd name="connsiteX4" fmla="*/ 10829000 w 12192000"/>
              <a:gd name="connsiteY4" fmla="*/ 1983294 h 2347414"/>
              <a:gd name="connsiteX5" fmla="*/ 10743779 w 12192000"/>
              <a:gd name="connsiteY5" fmla="*/ 1996027 h 2347414"/>
              <a:gd name="connsiteX6" fmla="*/ 10829254 w 12192000"/>
              <a:gd name="connsiteY6" fmla="*/ 1987751 h 2347414"/>
              <a:gd name="connsiteX7" fmla="*/ 10847162 w 12192000"/>
              <a:gd name="connsiteY7" fmla="*/ 1988388 h 2347414"/>
              <a:gd name="connsiteX8" fmla="*/ 11575155 w 12192000"/>
              <a:gd name="connsiteY8" fmla="*/ 1921415 h 2347414"/>
              <a:gd name="connsiteX9" fmla="*/ 12192000 w 12192000"/>
              <a:gd name="connsiteY9" fmla="*/ 1851213 h 2347414"/>
              <a:gd name="connsiteX10" fmla="*/ 12192000 w 12192000"/>
              <a:gd name="connsiteY10" fmla="*/ 1907356 h 2347414"/>
              <a:gd name="connsiteX11" fmla="*/ 12035532 w 12192000"/>
              <a:gd name="connsiteY11" fmla="*/ 1927033 h 2347414"/>
              <a:gd name="connsiteX12" fmla="*/ 11576932 w 12192000"/>
              <a:gd name="connsiteY12" fmla="*/ 1976291 h 2347414"/>
              <a:gd name="connsiteX13" fmla="*/ 10627316 w 12192000"/>
              <a:gd name="connsiteY13" fmla="*/ 2061470 h 2347414"/>
              <a:gd name="connsiteX14" fmla="*/ 9804196 w 12192000"/>
              <a:gd name="connsiteY14" fmla="*/ 2123478 h 2347414"/>
              <a:gd name="connsiteX15" fmla="*/ 9243851 w 12192000"/>
              <a:gd name="connsiteY15" fmla="*/ 2180008 h 2347414"/>
              <a:gd name="connsiteX16" fmla="*/ 8731259 w 12192000"/>
              <a:gd name="connsiteY16" fmla="*/ 2225081 h 2347414"/>
              <a:gd name="connsiteX17" fmla="*/ 8065752 w 12192000"/>
              <a:gd name="connsiteY17" fmla="*/ 2271681 h 2347414"/>
              <a:gd name="connsiteX18" fmla="*/ 7658065 w 12192000"/>
              <a:gd name="connsiteY18" fmla="*/ 2292562 h 2347414"/>
              <a:gd name="connsiteX19" fmla="*/ 6531024 w 12192000"/>
              <a:gd name="connsiteY19" fmla="*/ 2324138 h 2347414"/>
              <a:gd name="connsiteX20" fmla="*/ 6178331 w 12192000"/>
              <a:gd name="connsiteY20" fmla="*/ 2345655 h 2347414"/>
              <a:gd name="connsiteX21" fmla="*/ 5977282 w 12192000"/>
              <a:gd name="connsiteY21" fmla="*/ 2344127 h 2347414"/>
              <a:gd name="connsiteX22" fmla="*/ 5367658 w 12192000"/>
              <a:gd name="connsiteY22" fmla="*/ 2329230 h 2347414"/>
              <a:gd name="connsiteX23" fmla="*/ 4387306 w 12192000"/>
              <a:gd name="connsiteY23" fmla="*/ 2288614 h 2347414"/>
              <a:gd name="connsiteX24" fmla="*/ 4180287 w 12192000"/>
              <a:gd name="connsiteY24" fmla="*/ 2280211 h 2347414"/>
              <a:gd name="connsiteX25" fmla="*/ 3842199 w 12192000"/>
              <a:gd name="connsiteY25" fmla="*/ 2257039 h 2347414"/>
              <a:gd name="connsiteX26" fmla="*/ 3730309 w 12192000"/>
              <a:gd name="connsiteY26" fmla="*/ 2251182 h 2347414"/>
              <a:gd name="connsiteX27" fmla="*/ 3425496 w 12192000"/>
              <a:gd name="connsiteY27" fmla="*/ 2231320 h 2347414"/>
              <a:gd name="connsiteX28" fmla="*/ 3076106 w 12192000"/>
              <a:gd name="connsiteY28" fmla="*/ 2201781 h 2347414"/>
              <a:gd name="connsiteX29" fmla="*/ 2819682 w 12192000"/>
              <a:gd name="connsiteY29" fmla="*/ 2182427 h 2347414"/>
              <a:gd name="connsiteX30" fmla="*/ 2525539 w 12192000"/>
              <a:gd name="connsiteY30" fmla="*/ 2152888 h 2347414"/>
              <a:gd name="connsiteX31" fmla="*/ 2311915 w 12192000"/>
              <a:gd name="connsiteY31" fmla="*/ 2133536 h 2347414"/>
              <a:gd name="connsiteX32" fmla="*/ 2054223 w 12192000"/>
              <a:gd name="connsiteY32" fmla="*/ 2104760 h 2347414"/>
              <a:gd name="connsiteX33" fmla="*/ 1865367 w 12192000"/>
              <a:gd name="connsiteY33" fmla="*/ 2084770 h 2347414"/>
              <a:gd name="connsiteX34" fmla="*/ 1629263 w 12192000"/>
              <a:gd name="connsiteY34" fmla="*/ 2055996 h 2347414"/>
              <a:gd name="connsiteX35" fmla="*/ 1458823 w 12192000"/>
              <a:gd name="connsiteY35" fmla="*/ 2035751 h 2347414"/>
              <a:gd name="connsiteX36" fmla="*/ 1241390 w 12192000"/>
              <a:gd name="connsiteY36" fmla="*/ 2007103 h 2347414"/>
              <a:gd name="connsiteX37" fmla="*/ 1047453 w 12192000"/>
              <a:gd name="connsiteY37" fmla="*/ 1980748 h 2347414"/>
              <a:gd name="connsiteX38" fmla="*/ 814907 w 12192000"/>
              <a:gd name="connsiteY38" fmla="*/ 1949045 h 2347414"/>
              <a:gd name="connsiteX39" fmla="*/ 592649 w 12192000"/>
              <a:gd name="connsiteY39" fmla="*/ 1913776 h 2347414"/>
              <a:gd name="connsiteX40" fmla="*/ 343591 w 12192000"/>
              <a:gd name="connsiteY40" fmla="*/ 1872650 h 2347414"/>
              <a:gd name="connsiteX41" fmla="*/ 35731 w 12192000"/>
              <a:gd name="connsiteY41" fmla="*/ 1821722 h 2347414"/>
              <a:gd name="connsiteX42" fmla="*/ 0 w 12192000"/>
              <a:gd name="connsiteY42" fmla="*/ 1814848 h 2347414"/>
              <a:gd name="connsiteX43" fmla="*/ 0 w 12192000"/>
              <a:gd name="connsiteY43" fmla="*/ 1758489 h 2347414"/>
              <a:gd name="connsiteX44" fmla="*/ 274248 w 12192000"/>
              <a:gd name="connsiteY44" fmla="*/ 1808735 h 2347414"/>
              <a:gd name="connsiteX45" fmla="*/ 498157 w 12192000"/>
              <a:gd name="connsiteY45" fmla="*/ 1846167 h 2347414"/>
              <a:gd name="connsiteX46" fmla="*/ 722828 w 12192000"/>
              <a:gd name="connsiteY46" fmla="*/ 1878635 h 2347414"/>
              <a:gd name="connsiteX47" fmla="*/ 949913 w 12192000"/>
              <a:gd name="connsiteY47" fmla="*/ 1912375 h 2347414"/>
              <a:gd name="connsiteX48" fmla="*/ 1195414 w 12192000"/>
              <a:gd name="connsiteY48" fmla="*/ 1947516 h 2347414"/>
              <a:gd name="connsiteX49" fmla="*/ 1342867 w 12192000"/>
              <a:gd name="connsiteY49" fmla="*/ 1968397 h 2347414"/>
              <a:gd name="connsiteX50" fmla="*/ 1518007 w 12192000"/>
              <a:gd name="connsiteY50" fmla="*/ 1988006 h 2347414"/>
              <a:gd name="connsiteX51" fmla="*/ 1701403 w 12192000"/>
              <a:gd name="connsiteY51" fmla="*/ 2010669 h 2347414"/>
              <a:gd name="connsiteX52" fmla="*/ 1879210 w 12192000"/>
              <a:gd name="connsiteY52" fmla="*/ 2031167 h 2347414"/>
              <a:gd name="connsiteX53" fmla="*/ 2068702 w 12192000"/>
              <a:gd name="connsiteY53" fmla="*/ 2052940 h 2347414"/>
              <a:gd name="connsiteX54" fmla="*/ 2212090 w 12192000"/>
              <a:gd name="connsiteY54" fmla="*/ 2067583 h 2347414"/>
              <a:gd name="connsiteX55" fmla="*/ 2416949 w 12192000"/>
              <a:gd name="connsiteY55" fmla="*/ 2089609 h 2347414"/>
              <a:gd name="connsiteX56" fmla="*/ 2582055 w 12192000"/>
              <a:gd name="connsiteY56" fmla="*/ 2105397 h 2347414"/>
              <a:gd name="connsiteX57" fmla="*/ 2802282 w 12192000"/>
              <a:gd name="connsiteY57" fmla="*/ 2126405 h 2347414"/>
              <a:gd name="connsiteX58" fmla="*/ 2984916 w 12192000"/>
              <a:gd name="connsiteY58" fmla="*/ 2141684 h 2347414"/>
              <a:gd name="connsiteX59" fmla="*/ 3241847 w 12192000"/>
              <a:gd name="connsiteY59" fmla="*/ 2164094 h 2347414"/>
              <a:gd name="connsiteX60" fmla="*/ 3439848 w 12192000"/>
              <a:gd name="connsiteY60" fmla="*/ 2176826 h 2347414"/>
              <a:gd name="connsiteX61" fmla="*/ 3658678 w 12192000"/>
              <a:gd name="connsiteY61" fmla="*/ 2194523 h 2347414"/>
              <a:gd name="connsiteX62" fmla="*/ 3881317 w 12192000"/>
              <a:gd name="connsiteY62" fmla="*/ 2206491 h 2347414"/>
              <a:gd name="connsiteX63" fmla="*/ 4148916 w 12192000"/>
              <a:gd name="connsiteY63" fmla="*/ 2225081 h 2347414"/>
              <a:gd name="connsiteX64" fmla="*/ 4468337 w 12192000"/>
              <a:gd name="connsiteY64" fmla="*/ 2237813 h 2347414"/>
              <a:gd name="connsiteX65" fmla="*/ 4605375 w 12192000"/>
              <a:gd name="connsiteY65" fmla="*/ 2240232 h 2347414"/>
              <a:gd name="connsiteX66" fmla="*/ 4527647 w 12192000"/>
              <a:gd name="connsiteY66" fmla="*/ 2236412 h 2347414"/>
              <a:gd name="connsiteX67" fmla="*/ 4175589 w 12192000"/>
              <a:gd name="connsiteY67" fmla="*/ 2212985 h 2347414"/>
              <a:gd name="connsiteX68" fmla="*/ 3988255 w 12192000"/>
              <a:gd name="connsiteY68" fmla="*/ 2200253 h 2347414"/>
              <a:gd name="connsiteX69" fmla="*/ 3686492 w 12192000"/>
              <a:gd name="connsiteY69" fmla="*/ 2176062 h 2347414"/>
              <a:gd name="connsiteX70" fmla="*/ 3517320 w 12192000"/>
              <a:gd name="connsiteY70" fmla="*/ 2163330 h 2347414"/>
              <a:gd name="connsiteX71" fmla="*/ 3258357 w 12192000"/>
              <a:gd name="connsiteY71" fmla="*/ 2139519 h 2347414"/>
              <a:gd name="connsiteX72" fmla="*/ 3101506 w 12192000"/>
              <a:gd name="connsiteY72" fmla="*/ 2126787 h 2347414"/>
              <a:gd name="connsiteX73" fmla="*/ 2809395 w 12192000"/>
              <a:gd name="connsiteY73" fmla="*/ 2097502 h 2347414"/>
              <a:gd name="connsiteX74" fmla="*/ 2598566 w 12192000"/>
              <a:gd name="connsiteY74" fmla="*/ 2078532 h 2347414"/>
              <a:gd name="connsiteX75" fmla="*/ 2337444 w 12192000"/>
              <a:gd name="connsiteY75" fmla="*/ 2048611 h 2347414"/>
              <a:gd name="connsiteX76" fmla="*/ 2091054 w 12192000"/>
              <a:gd name="connsiteY76" fmla="*/ 2023146 h 2347414"/>
              <a:gd name="connsiteX77" fmla="*/ 1755761 w 12192000"/>
              <a:gd name="connsiteY77" fmla="*/ 1981384 h 2347414"/>
              <a:gd name="connsiteX78" fmla="*/ 1441169 w 12192000"/>
              <a:gd name="connsiteY78" fmla="*/ 1943824 h 2347414"/>
              <a:gd name="connsiteX79" fmla="*/ 1017607 w 12192000"/>
              <a:gd name="connsiteY79" fmla="*/ 1883345 h 2347414"/>
              <a:gd name="connsiteX80" fmla="*/ 594427 w 12192000"/>
              <a:gd name="connsiteY80" fmla="*/ 1821849 h 2347414"/>
              <a:gd name="connsiteX81" fmla="*/ 200711 w 12192000"/>
              <a:gd name="connsiteY81" fmla="*/ 1755132 h 2347414"/>
              <a:gd name="connsiteX82" fmla="*/ 0 w 12192000"/>
              <a:gd name="connsiteY82" fmla="*/ 1718743 h 2347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</a:cxnLst>
            <a:rect l="l" t="t" r="r" b="b"/>
            <a:pathLst>
              <a:path w="12192000" h="2347414">
                <a:moveTo>
                  <a:pt x="0" y="0"/>
                </a:moveTo>
                <a:lnTo>
                  <a:pt x="12192000" y="0"/>
                </a:lnTo>
                <a:lnTo>
                  <a:pt x="12192000" y="1736458"/>
                </a:lnTo>
                <a:lnTo>
                  <a:pt x="11967601" y="1784034"/>
                </a:lnTo>
                <a:cubicBezTo>
                  <a:pt x="11589888" y="1859409"/>
                  <a:pt x="11209762" y="1923961"/>
                  <a:pt x="10829000" y="1983294"/>
                </a:cubicBezTo>
                <a:lnTo>
                  <a:pt x="10743779" y="1996027"/>
                </a:lnTo>
                <a:cubicBezTo>
                  <a:pt x="10772495" y="1996778"/>
                  <a:pt x="10801211" y="1993989"/>
                  <a:pt x="10829254" y="1987751"/>
                </a:cubicBezTo>
                <a:cubicBezTo>
                  <a:pt x="10835198" y="1988337"/>
                  <a:pt x="10841180" y="1988553"/>
                  <a:pt x="10847162" y="1988388"/>
                </a:cubicBezTo>
                <a:cubicBezTo>
                  <a:pt x="11090123" y="1968907"/>
                  <a:pt x="11332703" y="1945734"/>
                  <a:pt x="11575155" y="1921415"/>
                </a:cubicBezTo>
                <a:lnTo>
                  <a:pt x="12192000" y="1851213"/>
                </a:lnTo>
                <a:lnTo>
                  <a:pt x="12192000" y="1907356"/>
                </a:lnTo>
                <a:lnTo>
                  <a:pt x="12035532" y="1927033"/>
                </a:lnTo>
                <a:cubicBezTo>
                  <a:pt x="11882793" y="1944747"/>
                  <a:pt x="11729910" y="1961077"/>
                  <a:pt x="11576932" y="1976291"/>
                </a:cubicBezTo>
                <a:cubicBezTo>
                  <a:pt x="11260690" y="2008122"/>
                  <a:pt x="10944193" y="2037279"/>
                  <a:pt x="10627316" y="2061470"/>
                </a:cubicBezTo>
                <a:cubicBezTo>
                  <a:pt x="10352985" y="2082351"/>
                  <a:pt x="10078401" y="2100431"/>
                  <a:pt x="9804196" y="2123478"/>
                </a:cubicBezTo>
                <a:cubicBezTo>
                  <a:pt x="9617118" y="2139137"/>
                  <a:pt x="9430675" y="2161674"/>
                  <a:pt x="9243851" y="2180008"/>
                </a:cubicBezTo>
                <a:cubicBezTo>
                  <a:pt x="9073157" y="2196433"/>
                  <a:pt x="8902207" y="2211966"/>
                  <a:pt x="8731259" y="2225081"/>
                </a:cubicBezTo>
                <a:cubicBezTo>
                  <a:pt x="8509507" y="2242054"/>
                  <a:pt x="8287667" y="2257586"/>
                  <a:pt x="8065752" y="2271681"/>
                </a:cubicBezTo>
                <a:cubicBezTo>
                  <a:pt x="7929984" y="2280466"/>
                  <a:pt x="7793961" y="2285814"/>
                  <a:pt x="7658065" y="2292562"/>
                </a:cubicBezTo>
                <a:cubicBezTo>
                  <a:pt x="7282640" y="2311661"/>
                  <a:pt x="6906704" y="2314208"/>
                  <a:pt x="6531024" y="2324138"/>
                </a:cubicBezTo>
                <a:cubicBezTo>
                  <a:pt x="6413417" y="2327322"/>
                  <a:pt x="6295937" y="2338399"/>
                  <a:pt x="6178331" y="2345655"/>
                </a:cubicBezTo>
                <a:cubicBezTo>
                  <a:pt x="6111271" y="2349730"/>
                  <a:pt x="6044342" y="2345655"/>
                  <a:pt x="5977282" y="2344127"/>
                </a:cubicBezTo>
                <a:cubicBezTo>
                  <a:pt x="5774073" y="2338908"/>
                  <a:pt x="5570866" y="2334960"/>
                  <a:pt x="5367658" y="2329230"/>
                </a:cubicBezTo>
                <a:cubicBezTo>
                  <a:pt x="5040746" y="2319809"/>
                  <a:pt x="4713963" y="2306274"/>
                  <a:pt x="4387306" y="2288614"/>
                </a:cubicBezTo>
                <a:cubicBezTo>
                  <a:pt x="4318342" y="2284796"/>
                  <a:pt x="4249253" y="2284286"/>
                  <a:pt x="4180287" y="2280211"/>
                </a:cubicBezTo>
                <a:cubicBezTo>
                  <a:pt x="4067634" y="2273463"/>
                  <a:pt x="3954980" y="2265060"/>
                  <a:pt x="3842199" y="2257039"/>
                </a:cubicBezTo>
                <a:cubicBezTo>
                  <a:pt x="3804988" y="2254492"/>
                  <a:pt x="3767648" y="2254620"/>
                  <a:pt x="3730309" y="2251182"/>
                </a:cubicBezTo>
                <a:cubicBezTo>
                  <a:pt x="3628704" y="2242142"/>
                  <a:pt x="3527101" y="2238449"/>
                  <a:pt x="3425496" y="2231320"/>
                </a:cubicBezTo>
                <a:cubicBezTo>
                  <a:pt x="3308906" y="2222534"/>
                  <a:pt x="3192569" y="2211330"/>
                  <a:pt x="3076106" y="2201781"/>
                </a:cubicBezTo>
                <a:cubicBezTo>
                  <a:pt x="2990757" y="2194905"/>
                  <a:pt x="2905157" y="2190067"/>
                  <a:pt x="2819682" y="2182427"/>
                </a:cubicBezTo>
                <a:cubicBezTo>
                  <a:pt x="2721507" y="2173515"/>
                  <a:pt x="2623586" y="2162311"/>
                  <a:pt x="2525539" y="2152888"/>
                </a:cubicBezTo>
                <a:cubicBezTo>
                  <a:pt x="2454289" y="2145886"/>
                  <a:pt x="2383038" y="2140920"/>
                  <a:pt x="2311915" y="2133536"/>
                </a:cubicBezTo>
                <a:cubicBezTo>
                  <a:pt x="2225933" y="2124749"/>
                  <a:pt x="2140204" y="2114182"/>
                  <a:pt x="2054223" y="2104760"/>
                </a:cubicBezTo>
                <a:cubicBezTo>
                  <a:pt x="1990719" y="2097758"/>
                  <a:pt x="1928233" y="2092028"/>
                  <a:pt x="1865367" y="2084770"/>
                </a:cubicBezTo>
                <a:cubicBezTo>
                  <a:pt x="1786622" y="2075603"/>
                  <a:pt x="1708006" y="2065545"/>
                  <a:pt x="1629263" y="2055996"/>
                </a:cubicBezTo>
                <a:cubicBezTo>
                  <a:pt x="1572492" y="2049120"/>
                  <a:pt x="1515595" y="2043264"/>
                  <a:pt x="1458823" y="2035751"/>
                </a:cubicBezTo>
                <a:cubicBezTo>
                  <a:pt x="1386303" y="2026585"/>
                  <a:pt x="1313784" y="2016780"/>
                  <a:pt x="1241390" y="2007103"/>
                </a:cubicBezTo>
                <a:lnTo>
                  <a:pt x="1047453" y="1980748"/>
                </a:lnTo>
                <a:cubicBezTo>
                  <a:pt x="969980" y="1970180"/>
                  <a:pt x="892254" y="1960377"/>
                  <a:pt x="814907" y="1949045"/>
                </a:cubicBezTo>
                <a:cubicBezTo>
                  <a:pt x="740609" y="1938094"/>
                  <a:pt x="666692" y="1925744"/>
                  <a:pt x="592649" y="1913776"/>
                </a:cubicBezTo>
                <a:cubicBezTo>
                  <a:pt x="509587" y="1900280"/>
                  <a:pt x="426653" y="1886274"/>
                  <a:pt x="343591" y="1872650"/>
                </a:cubicBezTo>
                <a:cubicBezTo>
                  <a:pt x="240972" y="1855716"/>
                  <a:pt x="138225" y="1839673"/>
                  <a:pt x="35731" y="1821722"/>
                </a:cubicBezTo>
                <a:lnTo>
                  <a:pt x="0" y="1814848"/>
                </a:lnTo>
                <a:lnTo>
                  <a:pt x="0" y="1758489"/>
                </a:lnTo>
                <a:lnTo>
                  <a:pt x="274248" y="1808735"/>
                </a:lnTo>
                <a:cubicBezTo>
                  <a:pt x="348926" y="1821467"/>
                  <a:pt x="423604" y="1832798"/>
                  <a:pt x="498157" y="1846167"/>
                </a:cubicBezTo>
                <a:cubicBezTo>
                  <a:pt x="572708" y="1859536"/>
                  <a:pt x="647896" y="1867813"/>
                  <a:pt x="722828" y="1878635"/>
                </a:cubicBezTo>
                <a:cubicBezTo>
                  <a:pt x="797762" y="1889457"/>
                  <a:pt x="874219" y="1901426"/>
                  <a:pt x="949913" y="1912375"/>
                </a:cubicBezTo>
                <a:cubicBezTo>
                  <a:pt x="1031704" y="1924343"/>
                  <a:pt x="1113496" y="1935802"/>
                  <a:pt x="1195414" y="1947516"/>
                </a:cubicBezTo>
                <a:cubicBezTo>
                  <a:pt x="1244566" y="1954519"/>
                  <a:pt x="1293589" y="1962285"/>
                  <a:pt x="1342867" y="1968397"/>
                </a:cubicBezTo>
                <a:cubicBezTo>
                  <a:pt x="1401162" y="1975656"/>
                  <a:pt x="1459712" y="1981130"/>
                  <a:pt x="1518007" y="1988006"/>
                </a:cubicBezTo>
                <a:cubicBezTo>
                  <a:pt x="1579224" y="1995263"/>
                  <a:pt x="1640186" y="2003411"/>
                  <a:pt x="1701403" y="2010669"/>
                </a:cubicBezTo>
                <a:cubicBezTo>
                  <a:pt x="1762618" y="2017926"/>
                  <a:pt x="1820279" y="2024292"/>
                  <a:pt x="1879210" y="2031167"/>
                </a:cubicBezTo>
                <a:cubicBezTo>
                  <a:pt x="1942712" y="2038425"/>
                  <a:pt x="2006214" y="2046064"/>
                  <a:pt x="2068702" y="2052940"/>
                </a:cubicBezTo>
                <a:cubicBezTo>
                  <a:pt x="2116455" y="2058160"/>
                  <a:pt x="2164335" y="2062362"/>
                  <a:pt x="2212090" y="2067583"/>
                </a:cubicBezTo>
                <a:cubicBezTo>
                  <a:pt x="2280419" y="2074967"/>
                  <a:pt x="2348493" y="2085152"/>
                  <a:pt x="2416949" y="2089609"/>
                </a:cubicBezTo>
                <a:cubicBezTo>
                  <a:pt x="2472070" y="2093302"/>
                  <a:pt x="2526936" y="2099540"/>
                  <a:pt x="2582055" y="2105397"/>
                </a:cubicBezTo>
                <a:cubicBezTo>
                  <a:pt x="2655337" y="2113291"/>
                  <a:pt x="2729001" y="2119785"/>
                  <a:pt x="2802282" y="2126405"/>
                </a:cubicBezTo>
                <a:cubicBezTo>
                  <a:pt x="2862991" y="2131753"/>
                  <a:pt x="2924207" y="2136337"/>
                  <a:pt x="2984916" y="2141684"/>
                </a:cubicBezTo>
                <a:cubicBezTo>
                  <a:pt x="3070516" y="2149324"/>
                  <a:pt x="3156373" y="2152888"/>
                  <a:pt x="3241847" y="2164094"/>
                </a:cubicBezTo>
                <a:cubicBezTo>
                  <a:pt x="3307255" y="2172624"/>
                  <a:pt x="3374060" y="2169822"/>
                  <a:pt x="3439848" y="2176826"/>
                </a:cubicBezTo>
                <a:cubicBezTo>
                  <a:pt x="3512622" y="2184592"/>
                  <a:pt x="3585777" y="2186247"/>
                  <a:pt x="3658678" y="2194523"/>
                </a:cubicBezTo>
                <a:cubicBezTo>
                  <a:pt x="3731578" y="2202800"/>
                  <a:pt x="3807019" y="2201781"/>
                  <a:pt x="3881317" y="2206491"/>
                </a:cubicBezTo>
                <a:cubicBezTo>
                  <a:pt x="3970222" y="2212094"/>
                  <a:pt x="4059124" y="2223552"/>
                  <a:pt x="4148916" y="2225081"/>
                </a:cubicBezTo>
                <a:cubicBezTo>
                  <a:pt x="4255600" y="2226736"/>
                  <a:pt x="4361779" y="2236539"/>
                  <a:pt x="4468337" y="2237813"/>
                </a:cubicBezTo>
                <a:cubicBezTo>
                  <a:pt x="4511390" y="2238577"/>
                  <a:pt x="4554190" y="2246852"/>
                  <a:pt x="4605375" y="2240232"/>
                </a:cubicBezTo>
                <a:cubicBezTo>
                  <a:pt x="4574131" y="2238704"/>
                  <a:pt x="4550762" y="2237940"/>
                  <a:pt x="4527647" y="2236412"/>
                </a:cubicBezTo>
                <a:cubicBezTo>
                  <a:pt x="4410293" y="2228773"/>
                  <a:pt x="4292942" y="2220751"/>
                  <a:pt x="4175589" y="2212985"/>
                </a:cubicBezTo>
                <a:cubicBezTo>
                  <a:pt x="4113101" y="2208783"/>
                  <a:pt x="4050615" y="2205219"/>
                  <a:pt x="3988255" y="2200253"/>
                </a:cubicBezTo>
                <a:cubicBezTo>
                  <a:pt x="3887668" y="2192487"/>
                  <a:pt x="3787079" y="2184082"/>
                  <a:pt x="3686492" y="2176062"/>
                </a:cubicBezTo>
                <a:cubicBezTo>
                  <a:pt x="3630102" y="2171605"/>
                  <a:pt x="3573711" y="2168040"/>
                  <a:pt x="3517320" y="2163330"/>
                </a:cubicBezTo>
                <a:cubicBezTo>
                  <a:pt x="3430958" y="2155689"/>
                  <a:pt x="3344721" y="2147159"/>
                  <a:pt x="3258357" y="2139519"/>
                </a:cubicBezTo>
                <a:cubicBezTo>
                  <a:pt x="3206031" y="2134809"/>
                  <a:pt x="3153705" y="2131371"/>
                  <a:pt x="3101506" y="2126787"/>
                </a:cubicBezTo>
                <a:cubicBezTo>
                  <a:pt x="3004220" y="2117365"/>
                  <a:pt x="2907061" y="2106798"/>
                  <a:pt x="2809395" y="2097502"/>
                </a:cubicBezTo>
                <a:cubicBezTo>
                  <a:pt x="2739161" y="2090628"/>
                  <a:pt x="2668673" y="2085916"/>
                  <a:pt x="2598566" y="2078532"/>
                </a:cubicBezTo>
                <a:cubicBezTo>
                  <a:pt x="2511441" y="2069365"/>
                  <a:pt x="2424569" y="2058160"/>
                  <a:pt x="2337444" y="2048611"/>
                </a:cubicBezTo>
                <a:cubicBezTo>
                  <a:pt x="2255399" y="2039699"/>
                  <a:pt x="2173099" y="2032950"/>
                  <a:pt x="2091054" y="2023146"/>
                </a:cubicBezTo>
                <a:cubicBezTo>
                  <a:pt x="1979162" y="2010414"/>
                  <a:pt x="1867524" y="1995008"/>
                  <a:pt x="1755761" y="1981384"/>
                </a:cubicBezTo>
                <a:cubicBezTo>
                  <a:pt x="1650982" y="1968652"/>
                  <a:pt x="1545821" y="1957830"/>
                  <a:pt x="1441169" y="1943824"/>
                </a:cubicBezTo>
                <a:cubicBezTo>
                  <a:pt x="1299813" y="1924980"/>
                  <a:pt x="1158837" y="1903718"/>
                  <a:pt x="1017607" y="1883345"/>
                </a:cubicBezTo>
                <a:cubicBezTo>
                  <a:pt x="876378" y="1862974"/>
                  <a:pt x="735402" y="1844003"/>
                  <a:pt x="594427" y="1821849"/>
                </a:cubicBezTo>
                <a:cubicBezTo>
                  <a:pt x="462850" y="1801222"/>
                  <a:pt x="331526" y="1778304"/>
                  <a:pt x="200711" y="1755132"/>
                </a:cubicBezTo>
                <a:lnTo>
                  <a:pt x="0" y="1718743"/>
                </a:lnTo>
                <a:close/>
              </a:path>
            </a:pathLst>
          </a:custGeom>
          <a:solidFill>
            <a:schemeClr val="accent2"/>
          </a:solidFill>
          <a:ln w="819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27ECB0A-667B-AF5D-6D96-DEFE2476E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221"/>
            <a:ext cx="10515600" cy="1348065"/>
          </a:xfrm>
        </p:spPr>
        <p:txBody>
          <a:bodyPr>
            <a:normAutofit/>
          </a:bodyPr>
          <a:lstStyle/>
          <a:p>
            <a:pPr algn="ctr"/>
            <a:r>
              <a:rPr lang="de-DE" sz="5400" dirty="0">
                <a:solidFill>
                  <a:srgbClr val="FFFFFF"/>
                </a:solidFill>
              </a:rPr>
              <a:t>Danke!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F60FBB-40BC-9111-8550-7870B05F70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86789"/>
            <a:ext cx="10515600" cy="359017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de-DE" sz="2200" dirty="0"/>
          </a:p>
          <a:p>
            <a:pPr marL="0" indent="0">
              <a:buNone/>
            </a:pPr>
            <a:r>
              <a:rPr lang="de-DE" sz="2200" dirty="0"/>
              <a:t>	Danke für Ihre Aufmerksamkeit!</a:t>
            </a:r>
          </a:p>
          <a:p>
            <a:pPr marL="0" indent="0">
              <a:buNone/>
            </a:pPr>
            <a:r>
              <a:rPr lang="de-DE" sz="2200" dirty="0"/>
              <a:t>	</a:t>
            </a:r>
          </a:p>
          <a:p>
            <a:pPr marL="0" indent="0">
              <a:buNone/>
            </a:pPr>
            <a:r>
              <a:rPr lang="de-DE" sz="2200" dirty="0"/>
              <a:t>	Fragen?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1673BD-3FF3-B4F0-32E2-D51FA6E8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32B8A-2170-42C0-904F-B12488593C3E}" type="datetime1">
              <a:rPr lang="de-DE" smtClean="0"/>
              <a:t>03.10.2024</a:t>
            </a:fld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1741604-BF66-62CE-1802-D7C319A3E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17BA4-C4AE-4714-8927-468768EC5546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141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630</Words>
  <Application>Microsoft Office PowerPoint</Application>
  <PresentationFormat>Breitbild</PresentationFormat>
  <Paragraphs>137</Paragraphs>
  <Slides>20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</vt:lpstr>
      <vt:lpstr>Zeiterfassung-App</vt:lpstr>
      <vt:lpstr>Warnung!</vt:lpstr>
      <vt:lpstr>Berechtigung!</vt:lpstr>
      <vt:lpstr>Hintergrund und Ziel</vt:lpstr>
      <vt:lpstr>Bedeutung der Zeiterfassung</vt:lpstr>
      <vt:lpstr>Verwendete Technologien</vt:lpstr>
      <vt:lpstr>Entwicklungsumgebung</vt:lpstr>
      <vt:lpstr>Architektur und Design</vt:lpstr>
      <vt:lpstr>Benutzeroberfläche</vt:lpstr>
      <vt:lpstr>Backend-Design</vt:lpstr>
      <vt:lpstr>Wichtige Funktionen</vt:lpstr>
      <vt:lpstr>Admin-Funktionen</vt:lpstr>
      <vt:lpstr>Implementierung</vt:lpstr>
      <vt:lpstr>Firebase-Konfiguration</vt:lpstr>
      <vt:lpstr>Teststrategien</vt:lpstr>
      <vt:lpstr>Sicherheit und Datenschutz</vt:lpstr>
      <vt:lpstr>Wartung und Erweiterungen</vt:lpstr>
      <vt:lpstr>Fazit</vt:lpstr>
      <vt:lpstr>Schlussfolgerungen und Empfehlungen</vt:lpstr>
      <vt:lpstr>Danke!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Ashraf Al-Helali</dc:creator>
  <cp:lastModifiedBy>Ashraf Al-Helali</cp:lastModifiedBy>
  <cp:revision>4</cp:revision>
  <cp:lastPrinted>2024-10-03T14:16:44Z</cp:lastPrinted>
  <dcterms:created xsi:type="dcterms:W3CDTF">2024-09-16T16:30:45Z</dcterms:created>
  <dcterms:modified xsi:type="dcterms:W3CDTF">2024-10-03T14:37:12Z</dcterms:modified>
</cp:coreProperties>
</file>